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Traffic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059669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Anomaly</c:v>
                </c:pt>
                <c:pt idx="1">
                  <c:v>Gray Zone</c:v>
                </c:pt>
                <c:pt idx="2">
                  <c:v>Normal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</c:v>
                </c:pt>
                <c:pt idx="1">
                  <c:v>0.7</c:v>
                </c:pt>
                <c:pt idx="2">
                  <c:v>94.8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53673f1-2791-4e66-827d-face21fc2923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0D1B4B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0D1B4B"/>
                </a:solidFill>
                <a:latin typeface="Arial" panose="020B0604020202020204"/>
              </a:rPr>
              <a:t>F1-Score by Traffic Class</a:t>
            </a:r>
            <a:endParaRPr sz="1300" b="0" i="0" u="none" strike="noStrike">
              <a:solidFill>
                <a:srgbClr val="0D1B4B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A56B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56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1B4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0D1B4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Backup</c:v>
                </c:pt>
                <c:pt idx="1">
                  <c:v>Browsing</c:v>
                </c:pt>
                <c:pt idx="2">
                  <c:v>Email</c:v>
                </c:pt>
                <c:pt idx="3">
                  <c:v>IPSec</c:v>
                </c:pt>
                <c:pt idx="4">
                  <c:v>Web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</c:v>
                </c:pt>
                <c:pt idx="1">
                  <c:v>0.92</c:v>
                </c:pt>
                <c:pt idx="2">
                  <c:v>0.91</c:v>
                </c:pt>
                <c:pt idx="3">
                  <c:v>0.88</c:v>
                </c:pt>
                <c:pt idx="4">
                  <c:v>0.97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244d6fd-e5bb-4546-8403-63e98e84fe2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DT-Guard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Two-Stage Hybrid Framework for Encrypted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Traffic Classification with Anomaly Detection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Rawan </a:t>
            </a:r>
            <a:r>
              <a:rPr lang="en-US" altLang="en-US" sz="13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 Shweiki</a:t>
            </a:r>
            <a:r>
              <a:rPr lang="en-US" sz="13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</a:t>
            </a:r>
            <a:r>
              <a:rPr lang="en-US" altLang="en-US" sz="13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</a:t>
            </a:r>
            <a:r>
              <a:rPr lang="en-US" sz="13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University</a:t>
            </a:r>
            <a:r>
              <a:rPr lang="en-US" altLang="en-US" sz="13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College</a:t>
            </a:r>
            <a:r>
              <a:rPr lang="en-US" sz="13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Palestine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4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Why DT-Guard?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834640" cy="3474720"/>
          </a:xfrm>
          <a:prstGeom prst="rect">
            <a:avLst/>
          </a:prstGeom>
          <a:solidFill>
            <a:srgbClr val="E8F4FD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834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4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Encrypted Traffic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25603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Port-based &amp; DPI methods fail against TLS/QUIC encryption. Content-blind classification is essential.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834640" cy="3474720"/>
          </a:xfrm>
          <a:prstGeom prst="rect">
            <a:avLst/>
          </a:prstGeom>
          <a:solidFill>
            <a:srgbClr val="E8F4FD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97280"/>
            <a:ext cx="2834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🚨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187452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4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Anomaly Gate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2423160"/>
            <a:ext cx="25603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 models classify all traffic — including attacks — without a pre-screening layer.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005840"/>
            <a:ext cx="2834640" cy="3474720"/>
          </a:xfrm>
          <a:prstGeom prst="rect">
            <a:avLst/>
          </a:prstGeom>
          <a:solidFill>
            <a:srgbClr val="E8F4FD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097280"/>
            <a:ext cx="2834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🌳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4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Underused DT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25603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Trees used standalone at 95%. As a stacking core they can exceed 96% with full interpretability.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DT-Guard solves all three in a unified pipeline.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4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Three Datasets — Three Roles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834640" cy="32004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STAGE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83464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1A56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463040"/>
            <a:ext cx="2834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ISCX VPN-nonVPN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59,706 flows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→ 5 classes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2286000" cy="36576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2900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A56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&amp; Classification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83464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05840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STAGE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325880"/>
            <a:ext cx="283464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1463040"/>
            <a:ext cx="2834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CICIDS2017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60604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97,718 flows (BENIGN)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92608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 Traffic Only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6160" y="3337560"/>
            <a:ext cx="228600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42900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 Training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005840"/>
            <a:ext cx="283464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005840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325880"/>
            <a:ext cx="283464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1463040"/>
            <a:ext cx="2834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🧪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0" y="2148840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UNSW-NB15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260604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175,341 flows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92608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 / Normal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3337560"/>
            <a:ext cx="22860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42900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Generalization Test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4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DT-Guard — Two-Stage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" y="777240"/>
            <a:ext cx="4023360" cy="3566160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82296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STAGE 1 — Anomaly Detection Gate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474720" cy="594360"/>
          </a:xfrm>
          <a:prstGeom prst="roundRect">
            <a:avLst>
              <a:gd name="adj" fmla="val 15385"/>
            </a:avLst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474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 (trained on BENIGN traffic)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92024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4884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Reconstruction Error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2423160"/>
            <a:ext cx="2377440" cy="5486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2316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Threshold Check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128016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54680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🚨 Anomaly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83080" y="3154680"/>
            <a:ext cx="128016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3154680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Gray Zone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(KNN)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3154680"/>
            <a:ext cx="86868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154680"/>
            <a:ext cx="868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Normal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2560320"/>
            <a:ext cx="6400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37744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777240"/>
            <a:ext cx="402336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82296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STAGE 2 — Classification Engine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13258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32588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40880" y="13258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132588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1874520"/>
            <a:ext cx="548640" cy="4572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1874520"/>
            <a:ext cx="548640" cy="4572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2377440"/>
            <a:ext cx="256032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77840" y="237744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🌳 Decision Tree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(Core Classifier)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310896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38328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338328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Result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Confidence Score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43484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· Browsing · IPSec · Backup · Email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" y="448056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Encrypted Traffic 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4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Understanding the Metrics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E8F4FD"/>
          </a:solidFill>
          <a:ln w="12700">
            <a:solidFill>
              <a:srgbClr val="1A56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6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Correct Predictions ÷ Total Predictions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3931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percentage of flows correctly classified out of all flows. DT-Guard achieved 96.07% CV Accuracy — meaning 96 out of every 100 flows were classified into the right category.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182880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F1-Score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2 × (Precision × Recall) ÷ (Precision + Recall)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3931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Balances between Precision (when we say attack, are we right?) and Recall (did we catch all attacks?). DT-Guard achieved 91.92% F1 — reliable even on imbalanced classes.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2651760" cy="196596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92608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33756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TP ÷ (TP + FP)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703320"/>
            <a:ext cx="2468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all the flows we labeled as 'Web', how many were actually Web? Web class reached 0.98 precision.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2880360"/>
            <a:ext cx="2651760" cy="1965960"/>
          </a:xfrm>
          <a:prstGeom prst="rect">
            <a:avLst/>
          </a:prstGeom>
          <a:solidFill>
            <a:srgbClr val="FDF4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292608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333756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TP ÷ (TP + FN)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703320"/>
            <a:ext cx="2468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all the actual Web flows, how many did we correctly catch? IPSec recall reached 0.94 despite low precision.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880360"/>
            <a:ext cx="2606040" cy="1965960"/>
          </a:xfrm>
          <a:prstGeom prst="rect">
            <a:avLst/>
          </a:prstGeom>
          <a:solidFill>
            <a:srgbClr val="E8F4FD"/>
          </a:solidFill>
          <a:ln w="12700">
            <a:solidFill>
              <a:srgbClr val="1A56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2926080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Cross-Validation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337560"/>
            <a:ext cx="2423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5-Fold CV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3703320"/>
            <a:ext cx="24231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the model 5 times on different data splits. CV Std = 0.21% proves DT-Guard is stable, not a lucky run.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4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Stage 1 — Anomaly Detection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6517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651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26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4.5%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903 flows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Confirmed Anomaly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Blocked immediately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14400"/>
            <a:ext cx="265176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71600"/>
            <a:ext cx="2651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0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0.7%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91840" y="224028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144 flows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56032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Gray Zone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KNN resolved: 131 Normal, 13 Blocked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26517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14400"/>
            <a:ext cx="265176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371600"/>
            <a:ext cx="2651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94.8%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217920" y="224028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18,953 flows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56032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 Traffic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Forwarded to Stage 2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1828800" y="3383280"/>
          <a:ext cx="54864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4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Stage 2 — Classification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560320" cy="1280160"/>
          </a:xfrm>
          <a:prstGeom prst="rect">
            <a:avLst/>
          </a:prstGeom>
          <a:solidFill>
            <a:srgbClr val="E8F4FD"/>
          </a:solidFill>
          <a:ln w="12700">
            <a:solidFill>
              <a:srgbClr val="1A56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2560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56B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96.07%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 Accuracy (±0.21%)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960120"/>
            <a:ext cx="2560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91.92%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91840" y="173736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Weighted F1-Score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914400"/>
            <a:ext cx="2560320" cy="128016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960120"/>
            <a:ext cx="2560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770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19,084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09360" y="173736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Flows Classified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365760" y="233172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5577840" y="2468880"/>
            <a:ext cx="3291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</a:t>
            </a:r>
            <a:r>
              <a:rPr lang="en-US" sz="12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</a:t>
            </a: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(0.88) is the hardest class — VPN-encrypted flows share behavioral features with other categories.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77840" y="3657600"/>
            <a:ext cx="3291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</a:t>
            </a:r>
            <a:r>
              <a:rPr lang="en-US" sz="1200" b="1" dirty="0">
                <a:solidFill>
                  <a:srgbClr val="1A56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</a:t>
            </a: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(0.97) is the best-classified class — distinct traffic patterns from server-originated flows.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4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DT-Guard vs. Baseline Models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960120"/>
          <a:ext cx="8229600" cy="3200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645920"/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Model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Accuracy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F1-Score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Anomaly Detection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Naive Bayes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35.76%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33.58%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Decision Tree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95.00%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92.56%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Random Forest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96.71%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97.34%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XGBoost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97.56%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98.39%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Deep Neural Network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86.04%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85.44%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Transformer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98.95%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98.82%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DT-Guard (Ours)</a:t>
                      </a:r>
                      <a:endParaRPr lang="en-US" sz="12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96.07% (CV)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91.92%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B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 DT-Guard is the only model with integrated Anomaly Detection — filtering 4.5% of malicious flows before classification.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4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Generalization Test — UNSW-NB15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393192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Before Adaptation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Threshold: 0.0247 (from ISCX)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3931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C26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9.5%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Alarm: 2.8%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 mismatch — ISCX threshold doesn't fit UNSW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2103120"/>
            <a:ext cx="914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</a:rPr>
              <a:t>⟶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069080" y="2606040"/>
            <a:ext cx="1005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37760" y="960120"/>
            <a:ext cx="3931920" cy="292608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005840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After Adaptation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20640" y="146304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Threshold: 0.0069 (UNSW-adapted)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828800"/>
            <a:ext cx="3931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51.2%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937760" y="251460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Precision: 93.0%  |  False Alarm: 8.2%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200400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 adaptation is key — threshold calibration per environment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Finding: DT-Guard requires threshold recalibration per network environment — this defines our future work direction (Domain Adaptation).</a:t>
            </a:r>
            <a:endParaRPr lang="en-US" sz="1200" b="1" dirty="0">
              <a:solidFill>
                <a:srgbClr val="D9770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en-US" sz="1200" b="1" dirty="0">
              <a:solidFill>
                <a:srgbClr val="D9770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" altLang="en-US" sz="12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Link to guthub : </a:t>
            </a:r>
            <a:r>
              <a:rPr lang="en-US" altLang="en-US" sz="12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https://github.com/r-awa-n/DT-Guard</a:t>
            </a:r>
            <a:r>
              <a:rPr lang="" altLang="en-US" sz="12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</a:t>
            </a:r>
            <a:endParaRPr lang="en-US" altLang="en-US" sz="12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600200"/>
          </a:xfrm>
          <a:prstGeom prst="rect">
            <a:avLst/>
          </a:prstGeom>
          <a:solidFill>
            <a:srgbClr val="1A3170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🌳  Decision Tree as Core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749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DT as stacking core improves from 95% standalone to 96.07% CV — with full interpretability preserved.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1600200"/>
          </a:xfrm>
          <a:prstGeom prst="rect">
            <a:avLst/>
          </a:prstGeom>
          <a:solidFill>
            <a:srgbClr val="1A3170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80160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🛡️  Anomaly Gate 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749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4.5% of malicious flows blocked before classification — a capability absent in all baseline models.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4023360" cy="1600200"/>
          </a:xfrm>
          <a:prstGeom prst="rect">
            <a:avLst/>
          </a:prstGeom>
          <a:solidFill>
            <a:srgbClr val="1A3170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108960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 Stable &amp; Reliable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566160"/>
            <a:ext cx="3749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 Std = 0.21% across 5 folds confirms the model is robust, not a one-time lucky result.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4023360" cy="1600200"/>
          </a:xfrm>
          <a:prstGeom prst="rect">
            <a:avLst/>
          </a:prstGeom>
          <a:solidFill>
            <a:srgbClr val="1A3170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108960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🔭  Future: Domain Adaptation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566160"/>
            <a:ext cx="3749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auto-calibration per network environment is the next research frontier for DT-Guard.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3955</Words>
  <Application>WPS Presentation</Application>
  <PresentationFormat>On-screen Show (16:9)</PresentationFormat>
  <Paragraphs>297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Arial</vt:lpstr>
      <vt:lpstr>Arial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DT-Guard</dc:title>
  <dc:creator>PptxGenJS</dc:creator>
  <dc:subject>PptxGenJS Presentation</dc:subject>
  <cp:lastModifiedBy>msire</cp:lastModifiedBy>
  <cp:revision>5</cp:revision>
  <dcterms:created xsi:type="dcterms:W3CDTF">2026-05-24T14:29:00Z</dcterms:created>
  <dcterms:modified xsi:type="dcterms:W3CDTF">2026-05-25T09:21:58Z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0199F53E0A4F409E909983AAFB880A49_12</vt:lpwstr>
  </property>
  <property fmtid="{D5CDD505-2E9C-101B-9397-08002B2CF9AE}" pid="3" name="KSOProductBuildVer">
    <vt:lpwstr>1033-12.1.0.26372</vt:lpwstr>
  </property>
</Properties>
</file>